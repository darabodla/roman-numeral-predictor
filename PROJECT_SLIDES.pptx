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1" r:id="rId3"/>
    <p:sldId id="263" r:id="rId4"/>
    <p:sldId id="265" r:id="rId5"/>
    <p:sldId id="267" r:id="rId6"/>
    <p:sldId id="268" r:id="rId7"/>
    <p:sldId id="269" r:id="rId8"/>
    <p:sldId id="271" r:id="rId9"/>
    <p:sldId id="272" r:id="rId10"/>
    <p:sldId id="264" r:id="rId11"/>
    <p:sldId id="266" r:id="rId12"/>
    <p:sldId id="270" r:id="rId13"/>
    <p:sldId id="273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6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36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5477256"/>
            <a:ext cx="6902254" cy="612648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5806440" y="2148840"/>
            <a:ext cx="801014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Roman Numeral Prediction Challenge</a:t>
            </a:r>
            <a:endParaRPr lang="en-US" sz="6410" dirty="0"/>
          </a:p>
        </p:txBody>
      </p:sp>
      <p:sp>
        <p:nvSpPr>
          <p:cNvPr id="8" name="Text 2"/>
          <p:cNvSpPr/>
          <p:nvPr/>
        </p:nvSpPr>
        <p:spPr>
          <a:xfrm>
            <a:off x="7554061" y="5622094"/>
            <a:ext cx="3383280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900"/>
              </a:lnSpc>
            </a:pPr>
            <a:r>
              <a:rPr lang="en-US" sz="2800" dirty="0"/>
              <a:t>A CNN-Based AI Project with </a:t>
            </a:r>
            <a:r>
              <a:rPr lang="en-US" sz="2800" dirty="0" err="1"/>
              <a:t>PyTorch</a:t>
            </a:r>
            <a:r>
              <a:rPr lang="en-US" sz="2800" dirty="0"/>
              <a:t> and Flask</a:t>
            </a:r>
          </a:p>
          <a:p>
            <a:pPr marL="0" indent="0" algn="ctr">
              <a:lnSpc>
                <a:spcPts val="2900"/>
              </a:lnSpc>
              <a:buNone/>
            </a:pPr>
            <a:endParaRPr lang="en-US" sz="23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6096" y="4590288"/>
            <a:ext cx="60533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b="1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Marwah Mohammad (2023304)</a:t>
            </a:r>
            <a:endParaRPr lang="en-US" sz="1850" b="1" dirty="0"/>
          </a:p>
        </p:txBody>
      </p:sp>
      <p:sp>
        <p:nvSpPr>
          <p:cNvPr id="4" name="Text 1"/>
          <p:cNvSpPr/>
          <p:nvPr/>
        </p:nvSpPr>
        <p:spPr>
          <a:xfrm>
            <a:off x="960120" y="4590288"/>
            <a:ext cx="6053328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b="1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Dara Shikoh Bodla (2023176)</a:t>
            </a:r>
            <a:endParaRPr lang="en-US" sz="1850" b="1" dirty="0"/>
          </a:p>
        </p:txBody>
      </p:sp>
      <p:sp>
        <p:nvSpPr>
          <p:cNvPr id="5" name="Text 2"/>
          <p:cNvSpPr/>
          <p:nvPr/>
        </p:nvSpPr>
        <p:spPr>
          <a:xfrm>
            <a:off x="5278462" y="292740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Team</a:t>
            </a: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r>
              <a:rPr lang="en-US" sz="4640" b="1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Members</a:t>
            </a:r>
            <a:endParaRPr lang="en-US" sz="464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4709160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09160"/>
            <a:ext cx="475488" cy="4754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488936" y="4800600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7" name="Text 1"/>
          <p:cNvSpPr/>
          <p:nvPr/>
        </p:nvSpPr>
        <p:spPr>
          <a:xfrm>
            <a:off x="996696" y="4800600"/>
            <a:ext cx="17373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320" dirty="0">
                <a:solidFill>
                  <a:srgbClr val="08080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8" name="Text 2"/>
          <p:cNvSpPr/>
          <p:nvPr/>
        </p:nvSpPr>
        <p:spPr>
          <a:xfrm>
            <a:off x="1609344" y="4736592"/>
            <a:ext cx="56967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 build a machine learning system that accurately identifies handwritten Roman numerals (I to X) from uploaded images.</a:t>
            </a:r>
            <a:endParaRPr lang="en-US" sz="1850" dirty="0"/>
          </a:p>
        </p:txBody>
      </p:sp>
      <p:sp>
        <p:nvSpPr>
          <p:cNvPr id="9" name="Text 3"/>
          <p:cNvSpPr/>
          <p:nvPr/>
        </p:nvSpPr>
        <p:spPr>
          <a:xfrm>
            <a:off x="8101584" y="4736592"/>
            <a:ext cx="569671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model is trained using a supervised learning approach and deployed with a web interface for real-time predictions.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832104" y="34564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Objective</a:t>
            </a:r>
            <a:endParaRPr lang="en-US" sz="46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94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4471416"/>
            <a:ext cx="750722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["I", "II", "III", "IV", "V", "VI", "VII", "VIII", "IX", "X"]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832104" y="3337560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Roman Numeral Classes</a:t>
            </a:r>
            <a:endParaRPr lang="en-US" sz="46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350008"/>
            <a:ext cx="4544568" cy="454456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7264" y="2139696"/>
            <a:ext cx="1188720" cy="118872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7264" y="5925312"/>
            <a:ext cx="1188720" cy="11887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4568" y="4032504"/>
            <a:ext cx="1188720" cy="118872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8330184" y="2542032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320" dirty="0"/>
          </a:p>
        </p:txBody>
      </p:sp>
      <p:sp>
        <p:nvSpPr>
          <p:cNvPr id="10" name="Text 1"/>
          <p:cNvSpPr/>
          <p:nvPr/>
        </p:nvSpPr>
        <p:spPr>
          <a:xfrm>
            <a:off x="8330184" y="6327648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8080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320" dirty="0"/>
          </a:p>
        </p:txBody>
      </p:sp>
      <p:sp>
        <p:nvSpPr>
          <p:cNvPr id="11" name="Text 2"/>
          <p:cNvSpPr/>
          <p:nvPr/>
        </p:nvSpPr>
        <p:spPr>
          <a:xfrm>
            <a:off x="5047488" y="4434840"/>
            <a:ext cx="173736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80808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320" dirty="0"/>
          </a:p>
        </p:txBody>
      </p:sp>
      <p:sp>
        <p:nvSpPr>
          <p:cNvPr id="12" name="Text 3"/>
          <p:cNvSpPr/>
          <p:nvPr/>
        </p:nvSpPr>
        <p:spPr>
          <a:xfrm>
            <a:off x="832104" y="13441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Supervised Learning Approach</a:t>
            </a:r>
            <a:endParaRPr lang="en-US" sz="4640" dirty="0"/>
          </a:p>
        </p:txBody>
      </p:sp>
      <p:sp>
        <p:nvSpPr>
          <p:cNvPr id="13" name="Text 4"/>
          <p:cNvSpPr/>
          <p:nvPr/>
        </p:nvSpPr>
        <p:spPr>
          <a:xfrm>
            <a:off x="950976" y="4160520"/>
            <a:ext cx="3511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Used labeled training data where each image corresponds to one of 10 Roman numeral classes.</a:t>
            </a:r>
            <a:endParaRPr lang="en-US" sz="1850" dirty="0"/>
          </a:p>
        </p:txBody>
      </p:sp>
      <p:sp>
        <p:nvSpPr>
          <p:cNvPr id="14" name="Text 5"/>
          <p:cNvSpPr/>
          <p:nvPr/>
        </p:nvSpPr>
        <p:spPr>
          <a:xfrm>
            <a:off x="9710928" y="2944368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Convolutional Neural Network (CNN) was trained using these labels to minimize classification error.</a:t>
            </a:r>
            <a:endParaRPr lang="en-US" sz="1850" dirty="0"/>
          </a:p>
        </p:txBody>
      </p:sp>
      <p:sp>
        <p:nvSpPr>
          <p:cNvPr id="15" name="Text 6"/>
          <p:cNvSpPr/>
          <p:nvPr/>
        </p:nvSpPr>
        <p:spPr>
          <a:xfrm>
            <a:off x="9710928" y="5385816"/>
            <a:ext cx="3986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model learns patterns and features from image pixels and uses these to predict class probabilities.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3913632"/>
            <a:ext cx="3858768" cy="14173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3913632"/>
            <a:ext cx="3858768" cy="14173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2104" y="2898648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Dataset and Preprocessing</a:t>
            </a:r>
            <a:endParaRPr lang="en-US" sz="4640" dirty="0"/>
          </a:p>
        </p:txBody>
      </p:sp>
      <p:sp>
        <p:nvSpPr>
          <p:cNvPr id="7" name="Text 1"/>
          <p:cNvSpPr/>
          <p:nvPr/>
        </p:nvSpPr>
        <p:spPr>
          <a:xfrm>
            <a:off x="5202936" y="4032504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34323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Images were resized to 64×64, converted to tensors, and normalized to mean=0.5, std=0.5.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1078992" y="4032504"/>
            <a:ext cx="3383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2C2A2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Dataset directory structure follows ImageFolder format from PyTorch.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8992" y="3739896"/>
            <a:ext cx="75072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 custom CNN model RomanCNN was built with:</a:t>
            </a:r>
            <a:endParaRPr lang="en-US" sz="185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•Convolutional Layers: Conv2D → ReLU → MaxPooling (×3 blocks with increasing depth: 32, 64, 128)</a:t>
            </a:r>
            <a:endParaRPr lang="en-US" sz="185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•Fully Connected Layers: Flatten → Linear(8192→256) → Dropout(0.3) → Linear(256→10)</a:t>
            </a:r>
            <a:endParaRPr lang="en-US" sz="1850" dirty="0"/>
          </a:p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AEABA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•Activation: ReLU in all layers; Softmax applied at inference.</a:t>
            </a:r>
            <a:endParaRPr lang="en-US" sz="1850" dirty="0"/>
          </a:p>
        </p:txBody>
      </p:sp>
      <p:sp>
        <p:nvSpPr>
          <p:cNvPr id="5" name="Text 1"/>
          <p:cNvSpPr/>
          <p:nvPr/>
        </p:nvSpPr>
        <p:spPr>
          <a:xfrm>
            <a:off x="832104" y="2596896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Model Architecture</a:t>
            </a:r>
            <a:endParaRPr lang="en-US" sz="46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" y="1874520"/>
          <a:ext cx="12984480" cy="5212080"/>
        </p:xfrm>
        <a:graphic>
          <a:graphicData uri="http://schemas.openxmlformats.org/drawingml/2006/table">
            <a:tbl>
              <a:tblPr/>
              <a:tblGrid>
                <a:gridCol w="649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Parameter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Value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Optimizer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Adam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Loss Function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CrossEntropyLoss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Epochs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10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Batch Size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32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Train/Val Split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80/20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832104" y="65836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Training Details(1)</a:t>
            </a:r>
            <a:endParaRPr lang="en-US" sz="46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" y="3611880"/>
          <a:ext cx="12984480" cy="1737360"/>
        </p:xfrm>
        <a:graphic>
          <a:graphicData uri="http://schemas.openxmlformats.org/drawingml/2006/table">
            <a:tbl>
              <a:tblPr/>
              <a:tblGrid>
                <a:gridCol w="649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Accuracy (Final Epoch)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\~92–95% (train set)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Model File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80"/>
                        </a:lnSpc>
                        <a:buNone/>
                      </a:pPr>
                      <a:r>
                        <a:rPr lang="en-US" sz="1180" dirty="0">
                          <a:solidFill>
                            <a:srgbClr val="AEABAB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roman_model.pth</a:t>
                      </a:r>
                      <a:endParaRPr lang="en-US" sz="1200" dirty="0"/>
                    </a:p>
                  </a:txBody>
                  <a:tcPr marL="234950" marR="234950" marT="234950" marB="234950">
                    <a:lnL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97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832104" y="240487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EAEAEA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Training Details(2)</a:t>
            </a:r>
            <a:endParaRPr lang="en-US" sz="4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" y="27502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4827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97864"/>
            <a:ext cx="12984480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10"/>
              </a:lnSpc>
            </a:pPr>
            <a:r>
              <a:rPr lang="en-US" sz="4800" dirty="0">
                <a:solidFill>
                  <a:schemeClr val="bg1"/>
                </a:solidFill>
              </a:rPr>
              <a:t>Flask </a:t>
            </a:r>
            <a:r>
              <a:rPr lang="en-US" sz="4800" dirty="0">
                <a:solidFill>
                  <a:schemeClr val="bg1"/>
                </a:solidFill>
                <a:latin typeface="思源黑体-思源黑体-Medium"/>
              </a:rPr>
              <a:t>Web</a:t>
            </a:r>
            <a:r>
              <a:rPr lang="en-US" sz="4800" dirty="0">
                <a:solidFill>
                  <a:schemeClr val="bg1"/>
                </a:solidFill>
              </a:rPr>
              <a:t> Application</a:t>
            </a:r>
          </a:p>
          <a:p>
            <a:pPr marL="0" indent="0" algn="l">
              <a:lnSpc>
                <a:spcPts val="11610"/>
              </a:lnSpc>
              <a:buNone/>
            </a:pPr>
            <a:endParaRPr lang="en-US" sz="9290" dirty="0"/>
          </a:p>
        </p:txBody>
      </p:sp>
      <p:sp>
        <p:nvSpPr>
          <p:cNvPr id="6" name="Text 1"/>
          <p:cNvSpPr/>
          <p:nvPr/>
        </p:nvSpPr>
        <p:spPr>
          <a:xfrm>
            <a:off x="832104" y="294436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239012" y="2825496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Upload interface built with Flask.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Users upload images and receive real-time predictions.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AJAX POST to /predict returns JSON prediction.</a:t>
            </a:r>
          </a:p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8" name="Text 3"/>
          <p:cNvSpPr/>
          <p:nvPr/>
        </p:nvSpPr>
        <p:spPr>
          <a:xfrm>
            <a:off x="832104" y="350215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05993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18464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461772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4827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97864"/>
            <a:ext cx="12984480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10"/>
              </a:lnSpc>
            </a:pPr>
            <a:r>
              <a:rPr lang="en-US" sz="4800" dirty="0">
                <a:solidFill>
                  <a:schemeClr val="bg1"/>
                </a:solidFill>
                <a:latin typeface="思源黑体-思源黑体-Medium"/>
              </a:rPr>
              <a:t>Results &amp; Observations</a:t>
            </a:r>
          </a:p>
          <a:p>
            <a:pPr marL="0" indent="0" algn="l">
              <a:lnSpc>
                <a:spcPts val="11610"/>
              </a:lnSpc>
              <a:buNone/>
            </a:pPr>
            <a:endParaRPr lang="en-US" sz="9290" dirty="0"/>
          </a:p>
        </p:txBody>
      </p:sp>
      <p:sp>
        <p:nvSpPr>
          <p:cNvPr id="6" name="Text 1"/>
          <p:cNvSpPr/>
          <p:nvPr/>
        </p:nvSpPr>
        <p:spPr>
          <a:xfrm>
            <a:off x="832104" y="294436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239012" y="2798064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High classification accuracy across Roman numerals.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Minor confusion observed among similar-looking classes (e.g., VII vs VIII).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Fast, reliable predictions with clean web interface.</a:t>
            </a:r>
          </a:p>
          <a:p>
            <a:pPr marL="0" indent="0" algn="l">
              <a:lnSpc>
                <a:spcPts val="5800"/>
              </a:lnSpc>
              <a:buNone/>
            </a:pPr>
            <a:endParaRPr lang="en-US" sz="4640" dirty="0">
              <a:latin typeface="思源黑体-思源黑体-Medium"/>
            </a:endParaRPr>
          </a:p>
        </p:txBody>
      </p:sp>
      <p:sp>
        <p:nvSpPr>
          <p:cNvPr id="8" name="Text 3"/>
          <p:cNvSpPr/>
          <p:nvPr/>
        </p:nvSpPr>
        <p:spPr>
          <a:xfrm>
            <a:off x="832104" y="350215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832104" y="405993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518464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461772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6748272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197864"/>
            <a:ext cx="12984480" cy="1481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10"/>
              </a:lnSpc>
            </a:pPr>
            <a:r>
              <a:rPr lang="en-US" sz="4800" dirty="0">
                <a:solidFill>
                  <a:schemeClr val="bg1"/>
                </a:solidFill>
                <a:latin typeface="思源黑体-思源黑体-Medium"/>
              </a:rPr>
              <a:t>Tools &amp; Technologies</a:t>
            </a:r>
          </a:p>
          <a:p>
            <a:pPr marL="0" indent="0" algn="l">
              <a:lnSpc>
                <a:spcPts val="11610"/>
              </a:lnSpc>
              <a:buNone/>
            </a:pPr>
            <a:endParaRPr lang="en-US" sz="9290" dirty="0"/>
          </a:p>
        </p:txBody>
      </p:sp>
      <p:sp>
        <p:nvSpPr>
          <p:cNvPr id="6" name="Text 1"/>
          <p:cNvSpPr/>
          <p:nvPr/>
        </p:nvSpPr>
        <p:spPr>
          <a:xfrm>
            <a:off x="832104" y="294436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832104" y="5184648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1292794" y="2956095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Python, </a:t>
            </a:r>
            <a:r>
              <a:rPr lang="en-US" sz="2400" dirty="0" err="1">
                <a:solidFill>
                  <a:schemeClr val="bg1"/>
                </a:solidFill>
                <a:latin typeface="思源黑体-思源黑体-Medium"/>
              </a:rPr>
              <a:t>PyTorch</a:t>
            </a: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思源黑体-思源黑体-Medium"/>
              </a:rPr>
              <a:t>TorchVision</a:t>
            </a: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, PIL.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Flask, HTML/CSS, VS Code, </a:t>
            </a:r>
            <a:r>
              <a:rPr lang="en-US" sz="2400" dirty="0" err="1">
                <a:solidFill>
                  <a:schemeClr val="bg1"/>
                </a:solidFill>
                <a:latin typeface="思源黑体-思源黑体-Medium"/>
              </a:rPr>
              <a:t>Jupyter</a:t>
            </a: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 Notebook.</a:t>
            </a:r>
          </a:p>
          <a:p>
            <a:pPr>
              <a:spcAft>
                <a:spcPts val="1000"/>
              </a:spcAft>
              <a:defRPr sz="2000">
                <a:solidFill>
                  <a:srgbClr val="3C3C3C"/>
                </a:solidFill>
              </a:defRPr>
            </a:pPr>
            <a:r>
              <a:rPr lang="en-US" sz="2400" dirty="0">
                <a:solidFill>
                  <a:schemeClr val="bg1"/>
                </a:solidFill>
                <a:latin typeface="思源黑体-思源黑体-Medium"/>
              </a:rPr>
              <a:t>CPU and GPU training support.</a:t>
            </a:r>
          </a:p>
          <a:p>
            <a:pPr marL="0" indent="0" algn="l">
              <a:lnSpc>
                <a:spcPts val="5800"/>
              </a:lnSpc>
              <a:buNone/>
            </a:pPr>
            <a:endParaRPr lang="en-US" sz="4640" dirty="0"/>
          </a:p>
        </p:txBody>
      </p:sp>
      <p:sp>
        <p:nvSpPr>
          <p:cNvPr id="9" name="Text 4"/>
          <p:cNvSpPr/>
          <p:nvPr/>
        </p:nvSpPr>
        <p:spPr>
          <a:xfrm>
            <a:off x="832104" y="3502152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32104" y="4617720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2104" y="4059936"/>
            <a:ext cx="1298448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74ce70-b4db-4b72-8916-cb23908cf864.png"/>
          <p:cNvPicPr>
            <a:picLocks noChangeAspect="1"/>
          </p:cNvPicPr>
          <p:nvPr/>
        </p:nvPicPr>
        <p:blipFill>
          <a:blip r:embed="rId2"/>
          <a:srcRect l="14442" r="13955"/>
          <a:stretch/>
        </p:blipFill>
        <p:spPr>
          <a:xfrm>
            <a:off x="3622699" y="2269946"/>
            <a:ext cx="6938272" cy="51569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BB3535-F761-73A0-3490-DEFEC6295490}"/>
              </a:ext>
            </a:extLst>
          </p:cNvPr>
          <p:cNvSpPr txBox="1"/>
          <p:nvPr/>
        </p:nvSpPr>
        <p:spPr>
          <a:xfrm>
            <a:off x="4480211" y="802719"/>
            <a:ext cx="5223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sz="4800" dirty="0">
                <a:solidFill>
                  <a:schemeClr val="bg1"/>
                </a:solidFill>
                <a:latin typeface="思源黑体-思源黑体-Medium"/>
              </a:rPr>
              <a:t>Dashboard Preview</a:t>
            </a:r>
          </a:p>
        </p:txBody>
      </p:sp>
    </p:spTree>
    <p:extLst>
      <p:ext uri="{BB962C8B-B14F-4D97-AF65-F5344CB8AC3E}">
        <p14:creationId xmlns:p14="http://schemas.microsoft.com/office/powerpoint/2010/main" val="4086072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413</Words>
  <Application>Microsoft Office PowerPoint</Application>
  <PresentationFormat>Custom</PresentationFormat>
  <Paragraphs>70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Marwah Muhammad</cp:lastModifiedBy>
  <cp:revision>4</cp:revision>
  <dcterms:created xsi:type="dcterms:W3CDTF">2025-05-06T16:38:46Z</dcterms:created>
  <dcterms:modified xsi:type="dcterms:W3CDTF">2025-05-06T16:58:45Z</dcterms:modified>
</cp:coreProperties>
</file>